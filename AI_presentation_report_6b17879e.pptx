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68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8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6366F1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00B4D8">
              <a:alpha val="8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0" cy="54864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6" name="Text 4"/>
          <p:cNvSpPr/>
          <p:nvPr/>
        </p:nvSpPr>
        <p:spPr>
          <a:xfrm>
            <a:off x="731520" y="164592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Understanding AI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Guide to Artificial Intelligence,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Models, and Agentic Systems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Gupta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645920"/>
            <a:ext cx="1371600" cy="1371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640080" y="36576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41148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4846320" cy="18288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97280"/>
            <a:ext cx="64008" cy="18288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7" name="Text 5"/>
          <p:cNvSpPr/>
          <p:nvPr/>
        </p:nvSpPr>
        <p:spPr>
          <a:xfrm>
            <a:off x="960120" y="118872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Artificial Intelligence?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1645920"/>
            <a:ext cx="42976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of Computer Science that enables machines to think, learn, solve problems, and make decisions.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097280"/>
            <a:ext cx="2743200" cy="1828800"/>
          </a:xfrm>
          <a:prstGeom prst="rect">
            <a:avLst/>
          </a:prstGeom>
          <a:solidFill>
            <a:srgbClr val="0B1426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25880"/>
            <a:ext cx="731520" cy="731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126480" y="21031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3291840"/>
            <a:ext cx="246888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22960" y="3474720"/>
            <a:ext cx="502920" cy="502920"/>
          </a:xfrm>
          <a:prstGeom prst="ellipse">
            <a:avLst/>
          </a:prstGeom>
          <a:solidFill>
            <a:srgbClr val="F0F4F8"/>
          </a:solidFill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6616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34747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463040" y="379476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&amp; Alexa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383280" y="3291840"/>
            <a:ext cx="246888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566160" y="3474720"/>
            <a:ext cx="502920" cy="502920"/>
          </a:xfrm>
          <a:prstGeom prst="ellipse">
            <a:avLst/>
          </a:prstGeom>
          <a:solidFill>
            <a:srgbClr val="F0F4F8"/>
          </a:solidFill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5661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206240" y="34747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206240" y="379476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126480" y="3291840"/>
            <a:ext cx="246888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09360" y="3474720"/>
            <a:ext cx="502920" cy="502920"/>
          </a:xfrm>
          <a:prstGeom prst="ellipse">
            <a:avLst/>
          </a:prstGeom>
          <a:solidFill>
            <a:srgbClr val="F0F4F8"/>
          </a:solidFill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56616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49440" y="34747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949440" y="379476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&amp; Netflix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2468880" cy="15544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05840"/>
            <a:ext cx="2468880" cy="54864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7" name="Text 5"/>
          <p:cNvSpPr/>
          <p:nvPr/>
        </p:nvSpPr>
        <p:spPr>
          <a:xfrm>
            <a:off x="822960" y="11887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Narrow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7373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 single specific task only.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Siri, Alexa, Google Maps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005840"/>
            <a:ext cx="2468880" cy="15544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005840"/>
            <a:ext cx="2468880" cy="54864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13" name="Text 11"/>
          <p:cNvSpPr/>
          <p:nvPr/>
        </p:nvSpPr>
        <p:spPr>
          <a:xfrm>
            <a:off x="3566160" y="11887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General AI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146304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17373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think and work like a human in any task.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21031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Human-like intelligent robot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468880" cy="15544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005840"/>
            <a:ext cx="2468880" cy="54864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19" name="Text 17"/>
          <p:cNvSpPr/>
          <p:nvPr/>
        </p:nvSpPr>
        <p:spPr>
          <a:xfrm>
            <a:off x="6309360" y="11887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 AI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17373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than humans in every way.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1031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exist yet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11680" y="2834640"/>
            <a:ext cx="2468880" cy="15544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0" y="2834640"/>
            <a:ext cx="246888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4" name="Text 22"/>
          <p:cNvSpPr/>
          <p:nvPr/>
        </p:nvSpPr>
        <p:spPr>
          <a:xfrm>
            <a:off x="2194560" y="30175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Reactive Machine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94560" y="34290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to situations but has no memory.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94560" y="38404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Deep Blue, Auto doors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834640"/>
            <a:ext cx="2468880" cy="15544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834640"/>
            <a:ext cx="246888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9" name="Text 27"/>
          <p:cNvSpPr/>
          <p:nvPr/>
        </p:nvSpPr>
        <p:spPr>
          <a:xfrm>
            <a:off x="4937760" y="30175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Limited Memory AI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37760" y="34290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past data for decisions.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8404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cars, Recommenders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246888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05840"/>
            <a:ext cx="246888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822960" y="11430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4592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Altman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AI coding and helpful writing.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005840"/>
            <a:ext cx="246888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005840"/>
            <a:ext cx="2468880" cy="54864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3" name="Text 11"/>
          <p:cNvSpPr/>
          <p:nvPr/>
        </p:nvSpPr>
        <p:spPr>
          <a:xfrm>
            <a:off x="3566160" y="11430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DeepMind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141732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164592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Demis Hassabis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196596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 reasoning and problem solving.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46888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005840"/>
            <a:ext cx="2468880" cy="54864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19" name="Text 17"/>
          <p:cNvSpPr/>
          <p:nvPr/>
        </p:nvSpPr>
        <p:spPr>
          <a:xfrm>
            <a:off x="6309360" y="11430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Anthropic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141732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164592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Dario Amodei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196596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text reading, Safe AI assistant.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2834640"/>
            <a:ext cx="246888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2834640"/>
            <a:ext cx="2468880" cy="54864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25" name="Text 23"/>
          <p:cNvSpPr/>
          <p:nvPr/>
        </p:nvSpPr>
        <p:spPr>
          <a:xfrm>
            <a:off x="822960" y="29718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324612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347472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Gates / Satya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379476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into Excel, Word, Windows.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0" y="2834640"/>
            <a:ext cx="246888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83280" y="2834640"/>
            <a:ext cx="2468880" cy="54864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31" name="Text 29"/>
          <p:cNvSpPr/>
          <p:nvPr/>
        </p:nvSpPr>
        <p:spPr>
          <a:xfrm>
            <a:off x="3566160" y="29718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66160" y="324612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AI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66160" y="347472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Zuckerberg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66160" y="379476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open-source models for everyone.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2834640"/>
            <a:ext cx="246888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2834640"/>
            <a:ext cx="246888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7" name="Text 35"/>
          <p:cNvSpPr/>
          <p:nvPr/>
        </p:nvSpPr>
        <p:spPr>
          <a:xfrm>
            <a:off x="6309360" y="29718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xAI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09360" y="324612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AI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09360" y="347472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Elon Musk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09360" y="379476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X (Twitter) data access.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TOOLS 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457200" cy="45720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6" name="Text 4"/>
          <p:cNvSpPr/>
          <p:nvPr/>
        </p:nvSpPr>
        <p:spPr>
          <a:xfrm>
            <a:off x="731520" y="1051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41832" y="1508760"/>
            <a:ext cx="36576" cy="29260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" name="Shape 6"/>
          <p:cNvSpPr/>
          <p:nvPr/>
        </p:nvSpPr>
        <p:spPr>
          <a:xfrm>
            <a:off x="1554480" y="1005840"/>
            <a:ext cx="6858000" cy="594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37360" y="10332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1033272"/>
            <a:ext cx="4480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pre-trained on massive datasets: books, websites, articles, and conversations.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1801368"/>
            <a:ext cx="457200" cy="457200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12" name="Text 10"/>
          <p:cNvSpPr/>
          <p:nvPr/>
        </p:nvSpPr>
        <p:spPr>
          <a:xfrm>
            <a:off x="731520" y="18013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41832" y="2258568"/>
            <a:ext cx="36576" cy="29260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4" name="Shape 12"/>
          <p:cNvSpPr/>
          <p:nvPr/>
        </p:nvSpPr>
        <p:spPr>
          <a:xfrm>
            <a:off x="1554480" y="1755648"/>
            <a:ext cx="6858000" cy="594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37360" y="17830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1783080"/>
            <a:ext cx="4480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build brains using learning models, discovering patterns in text and images.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2551176"/>
            <a:ext cx="457200" cy="45720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8" name="Text 16"/>
          <p:cNvSpPr/>
          <p:nvPr/>
        </p:nvSpPr>
        <p:spPr>
          <a:xfrm>
            <a:off x="731520" y="25511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41832" y="3008376"/>
            <a:ext cx="36576" cy="29260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Shape 18"/>
          <p:cNvSpPr/>
          <p:nvPr/>
        </p:nvSpPr>
        <p:spPr>
          <a:xfrm>
            <a:off x="1554480" y="2505456"/>
            <a:ext cx="6858000" cy="594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737360" y="25328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Input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49040" y="2532888"/>
            <a:ext cx="4480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breaks your sentence into tokens to understand meaning and context.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3300984"/>
            <a:ext cx="457200" cy="45720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24" name="Text 22"/>
          <p:cNvSpPr/>
          <p:nvPr/>
        </p:nvSpPr>
        <p:spPr>
          <a:xfrm>
            <a:off x="731520" y="33009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41832" y="3758184"/>
            <a:ext cx="36576" cy="29260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Shape 24"/>
          <p:cNvSpPr/>
          <p:nvPr/>
        </p:nvSpPr>
        <p:spPr>
          <a:xfrm>
            <a:off x="1554480" y="3255264"/>
            <a:ext cx="6858000" cy="594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737360" y="328269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49040" y="3282696"/>
            <a:ext cx="4480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predicts the next best word or output based on probability (auto-regression).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1520" y="4050792"/>
            <a:ext cx="457200" cy="457200"/>
          </a:xfrm>
          <a:prstGeom prst="ellipse">
            <a:avLst/>
          </a:prstGeom>
          <a:solidFill>
            <a:srgbClr val="EC4899"/>
          </a:solidFill>
        </p:spPr>
      </p:sp>
      <p:sp>
        <p:nvSpPr>
          <p:cNvPr id="30" name="Text 28"/>
          <p:cNvSpPr/>
          <p:nvPr/>
        </p:nvSpPr>
        <p:spPr>
          <a:xfrm>
            <a:off x="731520" y="40507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554480" y="4005072"/>
            <a:ext cx="6858000" cy="594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737360" y="403250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Answers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749040" y="4032504"/>
            <a:ext cx="4480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combines predictions to form full sentences, paragraphs, code, or images.</a:t>
            </a:r>
            <a:endParaRPr lang="en-US" sz="1050" dirty="0"/>
          </a:p>
        </p:txBody>
      </p: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LLM?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5029200" cy="3474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05840"/>
            <a:ext cx="64008" cy="3474720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7" name="Text 5"/>
          <p:cNvSpPr/>
          <p:nvPr/>
        </p:nvSpPr>
        <p:spPr>
          <a:xfrm>
            <a:off x="960120" y="118872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Large Language Model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73736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advanced AI system trained on massive text datasets to understand, process, and generate human language.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560320"/>
            <a:ext cx="44805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use deep learning and transformer architecture to predict and produce contextually relevant text. They power chatbots, content creation, code assistants, and translation tools — enabling machines to communicate with human-like fluency and reasoning.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560320" cy="3474720"/>
          </a:xfrm>
          <a:prstGeom prst="rect">
            <a:avLst/>
          </a:prstGeom>
          <a:solidFill>
            <a:srgbClr val="0B1426"/>
          </a:solidFill>
        </p:spPr>
      </p:sp>
      <p:sp>
        <p:nvSpPr>
          <p:cNvPr id="11" name="Text 9"/>
          <p:cNvSpPr/>
          <p:nvPr/>
        </p:nvSpPr>
        <p:spPr>
          <a:xfrm>
            <a:off x="6309360" y="11887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1737360"/>
            <a:ext cx="2011680" cy="365760"/>
          </a:xfrm>
          <a:prstGeom prst="rect">
            <a:avLst/>
          </a:prstGeom>
          <a:solidFill>
            <a:srgbClr val="162033"/>
          </a:solidFill>
        </p:spPr>
      </p:sp>
      <p:sp>
        <p:nvSpPr>
          <p:cNvPr id="13" name="Text 11"/>
          <p:cNvSpPr/>
          <p:nvPr/>
        </p:nvSpPr>
        <p:spPr>
          <a:xfrm>
            <a:off x="6400800" y="17373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2240280"/>
            <a:ext cx="2011680" cy="365760"/>
          </a:xfrm>
          <a:prstGeom prst="rect">
            <a:avLst/>
          </a:prstGeom>
          <a:solidFill>
            <a:srgbClr val="162033"/>
          </a:solidFill>
        </p:spPr>
      </p:sp>
      <p:sp>
        <p:nvSpPr>
          <p:cNvPr id="15" name="Text 13"/>
          <p:cNvSpPr/>
          <p:nvPr/>
        </p:nvSpPr>
        <p:spPr>
          <a:xfrm>
            <a:off x="6400800" y="22402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2743200"/>
            <a:ext cx="2011680" cy="365760"/>
          </a:xfrm>
          <a:prstGeom prst="rect">
            <a:avLst/>
          </a:prstGeom>
          <a:solidFill>
            <a:srgbClr val="162033"/>
          </a:solidFill>
        </p:spPr>
      </p:sp>
      <p:sp>
        <p:nvSpPr>
          <p:cNvPr id="17" name="Text 15"/>
          <p:cNvSpPr/>
          <p:nvPr/>
        </p:nvSpPr>
        <p:spPr>
          <a:xfrm>
            <a:off x="6400800" y="27432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32461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52044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377647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Assistants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4032504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4288536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GENAI?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7863840" cy="1097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05840"/>
            <a:ext cx="64008" cy="1097280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7" name="Text 5"/>
          <p:cNvSpPr/>
          <p:nvPr/>
        </p:nvSpPr>
        <p:spPr>
          <a:xfrm>
            <a:off x="960120" y="10515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Generative 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4173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of AI that creates new content — text, images, music, and video — by learning patterns from existing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4114800" cy="23774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4688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88036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original content from prompts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26440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past datasets for human-like output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648456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GANs, VAEs, and Transformers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032504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creative tools &amp; art generators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2377440"/>
            <a:ext cx="3383280" cy="658368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0" y="2487168"/>
            <a:ext cx="438912" cy="438912"/>
          </a:xfrm>
          <a:prstGeom prst="ellipse">
            <a:avLst/>
          </a:prstGeom>
          <a:solidFill>
            <a:srgbClr val="F0F4F8"/>
          </a:solidFill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578608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897880" y="245059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897880" y="272491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120640" y="3182112"/>
            <a:ext cx="3383280" cy="658368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03520" y="3291840"/>
            <a:ext cx="438912" cy="438912"/>
          </a:xfrm>
          <a:prstGeom prst="ellipse">
            <a:avLst/>
          </a:prstGeom>
          <a:solidFill>
            <a:srgbClr val="F0F4F8"/>
          </a:solidFill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383280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897880" y="325526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897880" y="3529584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120640" y="3986784"/>
            <a:ext cx="3383280" cy="658368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303520" y="4096512"/>
            <a:ext cx="438912" cy="438912"/>
          </a:xfrm>
          <a:prstGeom prst="ellipse">
            <a:avLst/>
          </a:prstGeom>
          <a:solidFill>
            <a:srgbClr val="F0F4F8"/>
          </a:solidFill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4187952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897880" y="405993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897880" y="4334256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AGENTIC 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05840"/>
            <a:ext cx="64008" cy="9144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960120" y="109728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can understand a goal, plan steps, and take actions with minimal human intervention — going beyond simple chat.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Task: "Schedule a Meeting"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0120" y="2834640"/>
            <a:ext cx="2377440" cy="16459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74520" y="3017520"/>
            <a:ext cx="548640" cy="54864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11" name="Text 9"/>
          <p:cNvSpPr/>
          <p:nvPr/>
        </p:nvSpPr>
        <p:spPr>
          <a:xfrm>
            <a:off x="1874520" y="30175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36576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Calendar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93192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your calendar &amp; availability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55848" y="33832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703320" y="2834640"/>
            <a:ext cx="2377440" cy="16459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3017520"/>
            <a:ext cx="548640" cy="548640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17" name="Text 15"/>
          <p:cNvSpPr/>
          <p:nvPr/>
        </p:nvSpPr>
        <p:spPr>
          <a:xfrm>
            <a:off x="4617720" y="30175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40480" y="36576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Invites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393192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invites &amp; handles replies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99048" y="33832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446520" y="2834640"/>
            <a:ext cx="2377440" cy="16459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60920" y="3017520"/>
            <a:ext cx="548640" cy="54864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7360920" y="30175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83680" y="36576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Auto-Update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393192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the calendar automatically</a:t>
            </a:r>
            <a:endParaRPr lang="en-US" sz="1100" dirty="0"/>
          </a:p>
        </p:txBody>
      </p:sp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640080" y="13716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828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PIPELINE IN 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77240"/>
            <a:ext cx="384048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914400"/>
            <a:ext cx="411480" cy="41148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7" name="Text 5"/>
          <p:cNvSpPr/>
          <p:nvPr/>
        </p:nvSpPr>
        <p:spPr>
          <a:xfrm>
            <a:off x="777240" y="9144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9144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Tokenization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128016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input text, breaks sentences into tokens, assigns unique numerical IDs.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384048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286000"/>
            <a:ext cx="411480" cy="411480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12" name="Text 10"/>
          <p:cNvSpPr/>
          <p:nvPr/>
        </p:nvSpPr>
        <p:spPr>
          <a:xfrm>
            <a:off x="777240" y="22860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2860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65176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numerical IDs into high-dimensional vectors capturing semantic meaning.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384048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657600"/>
            <a:ext cx="411480" cy="41148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777240" y="36576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6576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Analysis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25880" y="402336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pass through transformer layers using Self-Attention to relate words.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777240"/>
            <a:ext cx="384048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83480" y="914400"/>
            <a:ext cx="411480" cy="41148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22" name="Text 20"/>
          <p:cNvSpPr/>
          <p:nvPr/>
        </p:nvSpPr>
        <p:spPr>
          <a:xfrm>
            <a:off x="4983480" y="9144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9144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Processing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32120" y="128016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internal mathematical representation of the prompt's intent.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148840"/>
            <a:ext cx="384048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83480" y="2286000"/>
            <a:ext cx="411480" cy="411480"/>
          </a:xfrm>
          <a:prstGeom prst="ellipse">
            <a:avLst/>
          </a:prstGeom>
          <a:solidFill>
            <a:srgbClr val="EC4899"/>
          </a:solidFill>
        </p:spPr>
      </p:sp>
      <p:sp>
        <p:nvSpPr>
          <p:cNvPr id="27" name="Text 25"/>
          <p:cNvSpPr/>
          <p:nvPr/>
        </p:nvSpPr>
        <p:spPr>
          <a:xfrm>
            <a:off x="4983480" y="22860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2120" y="22860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Generation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32120" y="265176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most likely next token and appends it to generate output.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520440"/>
            <a:ext cx="384048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83480" y="3657600"/>
            <a:ext cx="411480" cy="41148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32" name="Text 30"/>
          <p:cNvSpPr/>
          <p:nvPr/>
        </p:nvSpPr>
        <p:spPr>
          <a:xfrm>
            <a:off x="4983480" y="36576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32120" y="36576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&amp; Output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32120" y="402336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tokens back to text; safety filters check before displaying.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PROCESSING WORKS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3840480" cy="3291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05840"/>
            <a:ext cx="64008" cy="3291840"/>
          </a:xfrm>
          <a:prstGeom prst="rect">
            <a:avLst/>
          </a:prstGeom>
          <a:solidFill>
            <a:srgbClr val="00B4D8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1887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23444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Neural Network Layers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1920240"/>
            <a:ext cx="329184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through neural network layers, each performing mathematical transformations on the input. Raw data (text, images, numbers) is first converted into numerical vectors that the model can process.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3840480" cy="3291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05840"/>
            <a:ext cx="64008" cy="3291840"/>
          </a:xfrm>
          <a:prstGeom prst="rect">
            <a:avLst/>
          </a:prstGeom>
          <a:solidFill>
            <a:srgbClr val="6366F1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18872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06440" y="123444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Extraction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074920" y="1920240"/>
            <a:ext cx="329184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extracts increasingly abstract features and patterns from the data. The final output layer produces predictions, classifications, or generated content based on learned weights from training.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640080" y="18288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LAYERS ARCHITECTURE (1/2)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77240"/>
            <a:ext cx="7863840" cy="12344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777240"/>
            <a:ext cx="64008" cy="123444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7" name="Shape 5"/>
          <p:cNvSpPr/>
          <p:nvPr/>
        </p:nvSpPr>
        <p:spPr>
          <a:xfrm>
            <a:off x="914400" y="914400"/>
            <a:ext cx="502920" cy="50292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8" name="Text 6"/>
          <p:cNvSpPr/>
          <p:nvPr/>
        </p:nvSpPr>
        <p:spPr>
          <a:xfrm>
            <a:off x="914400" y="9144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4630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8686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Physical Layer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645920" y="11430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023360" y="86868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hardware that powers AI. Without hardware, AI cannot run.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023360" y="141732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kitchen — without a kitchen and stove, you can't cook.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2194560"/>
            <a:ext cx="7863840" cy="12344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2194560"/>
            <a:ext cx="64008" cy="1234440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16" name="Shape 13"/>
          <p:cNvSpPr/>
          <p:nvPr/>
        </p:nvSpPr>
        <p:spPr>
          <a:xfrm>
            <a:off x="914400" y="2331720"/>
            <a:ext cx="502920" cy="502920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17" name="Text 14"/>
          <p:cNvSpPr/>
          <p:nvPr/>
        </p:nvSpPr>
        <p:spPr>
          <a:xfrm>
            <a:off x="914400" y="23317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88036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645920" y="22860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Link Layer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645920" y="256032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023360" y="228600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AI with other applications and data sources.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023360" y="28346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delivery boy connecting restaurant to customer.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40080" y="3611880"/>
            <a:ext cx="7863840" cy="12344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40080" y="3611880"/>
            <a:ext cx="64008" cy="12344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5" name="Shape 21"/>
          <p:cNvSpPr/>
          <p:nvPr/>
        </p:nvSpPr>
        <p:spPr>
          <a:xfrm>
            <a:off x="914400" y="3749040"/>
            <a:ext cx="502920" cy="50292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6" name="Text 22"/>
          <p:cNvSpPr/>
          <p:nvPr/>
        </p:nvSpPr>
        <p:spPr>
          <a:xfrm>
            <a:off x="914400" y="37490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297680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645920" y="37033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Computation Layer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1645920" y="397764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4023360" y="370332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all AI calculations and runs the AI model.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4023360" y="425196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calculator — performs calculations and gives results.</a:t>
            </a:r>
            <a:endParaRPr lang="en-US" sz="1000" dirty="0"/>
          </a:p>
        </p:txBody>
      </p:sp>
    </p:spTree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640080" y="13716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828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LAYERS ARCHITECTURE (2/2)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685800"/>
            <a:ext cx="7863840" cy="9144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685800"/>
            <a:ext cx="64008" cy="9144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7" name="Shape 5"/>
          <p:cNvSpPr/>
          <p:nvPr/>
        </p:nvSpPr>
        <p:spPr>
          <a:xfrm>
            <a:off x="914400" y="795528"/>
            <a:ext cx="411480" cy="41148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8" name="Text 6"/>
          <p:cNvSpPr/>
          <p:nvPr/>
        </p:nvSpPr>
        <p:spPr>
          <a:xfrm>
            <a:off x="914400" y="79552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23444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75895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Knowledge Layer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554480" y="1014984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023360" y="73152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AI understand facts, context, and make smarter decisions.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023360" y="116128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student answering questions using knowledge from books.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1764792"/>
            <a:ext cx="7863840" cy="9144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1764792"/>
            <a:ext cx="64008" cy="914400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16" name="Shape 13"/>
          <p:cNvSpPr/>
          <p:nvPr/>
        </p:nvSpPr>
        <p:spPr>
          <a:xfrm>
            <a:off x="914400" y="1874520"/>
            <a:ext cx="411480" cy="411480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17" name="Text 14"/>
          <p:cNvSpPr/>
          <p:nvPr/>
        </p:nvSpPr>
        <p:spPr>
          <a:xfrm>
            <a:off x="914400" y="18745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313432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54480" y="1837944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Learning Layer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554480" y="2093976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023360" y="1810512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learns from large amounts of data.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023360" y="224028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learning to ride a bicycle — learn from mistakes and improve.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40080" y="2843784"/>
            <a:ext cx="7863840" cy="9144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40080" y="2843784"/>
            <a:ext cx="64008" cy="9144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5" name="Shape 21"/>
          <p:cNvSpPr/>
          <p:nvPr/>
        </p:nvSpPr>
        <p:spPr>
          <a:xfrm>
            <a:off x="914400" y="2953512"/>
            <a:ext cx="411480" cy="41148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6" name="Text 22"/>
          <p:cNvSpPr/>
          <p:nvPr/>
        </p:nvSpPr>
        <p:spPr>
          <a:xfrm>
            <a:off x="914400" y="295351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392424"/>
            <a:ext cx="320040" cy="32004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554480" y="2916936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Representation Layer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1554480" y="317296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4023360" y="2889504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text, images, or audio into numbers AI can understand.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4023360" y="331927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teacher using roll numbers instead of remembering names.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640080" y="3922776"/>
            <a:ext cx="7863840" cy="9144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40080" y="3922776"/>
            <a:ext cx="64008" cy="914400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34" name="Shape 29"/>
          <p:cNvSpPr/>
          <p:nvPr/>
        </p:nvSpPr>
        <p:spPr>
          <a:xfrm>
            <a:off x="914400" y="4032504"/>
            <a:ext cx="411480" cy="411480"/>
          </a:xfrm>
          <a:prstGeom prst="ellipse">
            <a:avLst/>
          </a:prstGeom>
          <a:solidFill>
            <a:srgbClr val="EC4899"/>
          </a:solidFill>
        </p:spPr>
      </p:sp>
      <p:sp>
        <p:nvSpPr>
          <p:cNvPr id="35" name="Text 30"/>
          <p:cNvSpPr/>
          <p:nvPr/>
        </p:nvSpPr>
        <p:spPr>
          <a:xfrm>
            <a:off x="914400" y="403250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6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471416"/>
            <a:ext cx="320040" cy="32004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554480" y="399592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1554480" y="4251960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4023360" y="3968496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users interact with AI — the final AI product.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4023360" y="439826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driving a car — users only use the steering wheel and pedals.</a:t>
            </a:r>
            <a:endParaRPr lang="en-US" sz="1000" dirty="0"/>
          </a:p>
        </p:txBody>
      </p:sp>
    </p:spTree>
  </p:cSld>
  <p:clrMapOvr>
    <a:masterClrMapping/>
  </p:clrMapOvr>
  <p:transition spd="slow">
    <p:wheel spokes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40000"/>
            <a:ext cx="10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B4D8"/>
                </a:solidFill>
                <a:latin typeface="Arial Black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0" y="240000"/>
            <a:ext cx="45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AI PLATFORMS &amp;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00000" y="670000"/>
            <a:ext cx="500000" cy="30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0000" y="240000"/>
            <a:ext cx="18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Page 1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0000"/>
            <a:ext cx="2649866" cy="1816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70000"/>
            <a:ext cx="60000" cy="157675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77200" y="1250000"/>
            <a:ext cx="500000" cy="50000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200" y="1250000"/>
            <a:ext cx="5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Black"/>
              </a:rPr>
              <a:t>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7200" y="1230000"/>
            <a:ext cx="1569866" cy="2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 Black"/>
              </a:rPr>
              <a:t>NotebookLM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7200" y="1510000"/>
            <a:ext cx="1569866" cy="22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4285F4"/>
                </a:solidFill>
                <a:latin typeface="Calibri"/>
              </a:rPr>
              <a:t>GOOGLE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200" y="1910000"/>
            <a:ext cx="2209866" cy="5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AI research &amp; note-taking assistant for your own documents.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7200" y="2440000"/>
            <a:ext cx="2209866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7200" y="2490000"/>
            <a:ext cx="2209866" cy="1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4285F4"/>
                </a:solidFill>
                <a:latin typeface="Calibri"/>
              </a:rPr>
              <a:t>MAIN FEATURE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200" y="2686750"/>
            <a:ext cx="2209866" cy="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Summaries, Q&amp;A, study guides, podcasts &amp; mind maps.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7066" y="1050000"/>
            <a:ext cx="2649866" cy="1816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7066" y="1170000"/>
            <a:ext cx="60000" cy="15767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467066" y="1250000"/>
            <a:ext cx="500000" cy="50000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67066" y="1250000"/>
            <a:ext cx="5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Black"/>
              </a:rPr>
              <a:t>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7066" y="1230000"/>
            <a:ext cx="1569866" cy="2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 Black"/>
              </a:rPr>
              <a:t>WhisperFlow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07066" y="1510000"/>
            <a:ext cx="1569866" cy="22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B5CF6"/>
                </a:solidFill>
                <a:latin typeface="Calibri"/>
              </a:rPr>
              <a:t>VOICE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7066" y="1910000"/>
            <a:ext cx="2209866" cy="5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AI voice tool converting speech into structured text.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67066" y="2440000"/>
            <a:ext cx="2209866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67066" y="2490000"/>
            <a:ext cx="2209866" cy="1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8B5CF6"/>
                </a:solidFill>
                <a:latin typeface="Calibri"/>
              </a:rPr>
              <a:t>MAIN FEATURE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7066" y="2686750"/>
            <a:ext cx="2209866" cy="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High-accuracy dictation, transcription &amp; workflow automation.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6932" y="1050000"/>
            <a:ext cx="2649866" cy="1816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36932" y="1170000"/>
            <a:ext cx="60000" cy="15767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256932" y="1250000"/>
            <a:ext cx="500000" cy="5000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56932" y="1250000"/>
            <a:ext cx="5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Black"/>
              </a:rPr>
              <a:t>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6932" y="1230000"/>
            <a:ext cx="1569866" cy="2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 Black"/>
              </a:rPr>
              <a:t>Stitch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6932" y="1510000"/>
            <a:ext cx="1569866" cy="22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59E0B"/>
                </a:solidFill>
                <a:latin typeface="Calibri"/>
              </a:rPr>
              <a:t>GOOGLE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6932" y="1910000"/>
            <a:ext cx="2209866" cy="5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AI-powered UI design and prototyping tool.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56932" y="2440000"/>
            <a:ext cx="2209866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56932" y="2490000"/>
            <a:ext cx="2209866" cy="1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59E0B"/>
                </a:solidFill>
                <a:latin typeface="Calibri"/>
              </a:rPr>
              <a:t>MAIN FEATURE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6932" y="2686750"/>
            <a:ext cx="2209866" cy="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Generates UI screens, wireframes &amp; frontend from prompts.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006750"/>
            <a:ext cx="2649866" cy="1816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" y="3126750"/>
            <a:ext cx="60000" cy="15767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77200" y="3206750"/>
            <a:ext cx="500000" cy="5000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7200" y="3206750"/>
            <a:ext cx="5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Black"/>
              </a:rPr>
              <a:t>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7200" y="3186750"/>
            <a:ext cx="1569866" cy="2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 Black"/>
              </a:rPr>
              <a:t>Gemini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17200" y="3466750"/>
            <a:ext cx="1569866" cy="22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A73E8"/>
                </a:solidFill>
                <a:latin typeface="Calibri"/>
              </a:rPr>
              <a:t>GOOGLE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7200" y="3866750"/>
            <a:ext cx="2209866" cy="5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Multimodal AI assistant for productivity and coding.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7200" y="4396750"/>
            <a:ext cx="2209866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7200" y="4446750"/>
            <a:ext cx="2209866" cy="1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E8"/>
                </a:solidFill>
                <a:latin typeface="Calibri"/>
              </a:rPr>
              <a:t>MAIN FEATURE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7200" y="4643500"/>
            <a:ext cx="2209866" cy="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Text, image, code, doc analysis with Workspace integration.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47066" y="3006750"/>
            <a:ext cx="2649866" cy="1816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247066" y="3126750"/>
            <a:ext cx="60000" cy="157675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467066" y="3206750"/>
            <a:ext cx="500000" cy="500000"/>
          </a:xfrm>
          <a:prstGeom prst="ellipse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67066" y="3206750"/>
            <a:ext cx="5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Black"/>
              </a:rPr>
              <a:t>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07066" y="3186750"/>
            <a:ext cx="1569866" cy="2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 Black"/>
              </a:rPr>
              <a:t>ChatGPT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07066" y="3466750"/>
            <a:ext cx="1569866" cy="22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A37F"/>
                </a:solidFill>
                <a:latin typeface="Calibri"/>
              </a:rPr>
              <a:t>OPENAI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67066" y="3866750"/>
            <a:ext cx="2209866" cy="5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Conversational AI for learning, writing, coding &amp; problem-solving.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67066" y="4396750"/>
            <a:ext cx="2209866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467066" y="4446750"/>
            <a:ext cx="2209866" cy="1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A37F"/>
                </a:solidFill>
                <a:latin typeface="Calibri"/>
              </a:rPr>
              <a:t>MAIN FEATURE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67066" y="4643500"/>
            <a:ext cx="2209866" cy="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Content, coding, data analysis, image understanding, agents.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36932" y="3006750"/>
            <a:ext cx="2649866" cy="1816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036932" y="3126750"/>
            <a:ext cx="60000" cy="157675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6256932" y="3206750"/>
            <a:ext cx="500000" cy="5000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256932" y="3206750"/>
            <a:ext cx="5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Black"/>
              </a:rPr>
              <a:t>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96932" y="3186750"/>
            <a:ext cx="1569866" cy="2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 Black"/>
              </a:rPr>
              <a:t>Claude AI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96932" y="3466750"/>
            <a:ext cx="1569866" cy="22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D97757"/>
                </a:solidFill>
                <a:latin typeface="Calibri"/>
              </a:rPr>
              <a:t>ANTHROPIC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56932" y="3866750"/>
            <a:ext cx="2209866" cy="5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AI for reasoning, long-doc analysis &amp; safe interactions.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56932" y="4396750"/>
            <a:ext cx="2209866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256932" y="4446750"/>
            <a:ext cx="2209866" cy="1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D97757"/>
                </a:solidFill>
                <a:latin typeface="Calibri"/>
              </a:rPr>
              <a:t>MAIN FEATURE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56932" y="4643500"/>
            <a:ext cx="2209866" cy="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Large context window, doc analysis, coding, writing, research.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40000"/>
            <a:ext cx="10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B4D8"/>
                </a:solidFill>
                <a:latin typeface="Arial Black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0" y="240000"/>
            <a:ext cx="45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AI PLATFORMS &amp;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00000" y="670000"/>
            <a:ext cx="500000" cy="30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0000" y="240000"/>
            <a:ext cx="18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Page 2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0000"/>
            <a:ext cx="2649866" cy="1816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70000"/>
            <a:ext cx="60000" cy="157675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77200" y="1250000"/>
            <a:ext cx="500000" cy="50000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200" y="1250000"/>
            <a:ext cx="5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Black"/>
              </a:rPr>
              <a:t>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7200" y="1230000"/>
            <a:ext cx="1569866" cy="2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 Black"/>
              </a:rPr>
              <a:t>Julius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7200" y="1510000"/>
            <a:ext cx="1569866" cy="22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366F1"/>
                </a:solidFill>
                <a:latin typeface="Calibri"/>
              </a:rPr>
              <a:t>JULIUS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200" y="1910000"/>
            <a:ext cx="2209866" cy="5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AI-powered data analysis assistant.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7200" y="2440000"/>
            <a:ext cx="2209866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7200" y="2490000"/>
            <a:ext cx="2209866" cy="1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366F1"/>
                </a:solidFill>
                <a:latin typeface="Calibri"/>
              </a:rPr>
              <a:t>MAIN FEATURE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200" y="2686750"/>
            <a:ext cx="2209866" cy="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Analyze Excel/CSV, chart &amp; report using natural language.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7066" y="1050000"/>
            <a:ext cx="2649866" cy="1816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7066" y="1170000"/>
            <a:ext cx="60000" cy="1576750"/>
          </a:xfrm>
          <a:prstGeom prst="rect">
            <a:avLst/>
          </a:prstGeom>
          <a:solidFill>
            <a:srgbClr val="208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467066" y="1250000"/>
            <a:ext cx="500000" cy="500000"/>
          </a:xfrm>
          <a:prstGeom prst="ellipse">
            <a:avLst/>
          </a:prstGeom>
          <a:solidFill>
            <a:srgbClr val="208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67066" y="1250000"/>
            <a:ext cx="5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Black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7066" y="1230000"/>
            <a:ext cx="1569866" cy="2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 Black"/>
              </a:rPr>
              <a:t>Comet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07066" y="1510000"/>
            <a:ext cx="1569866" cy="22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0808D"/>
                </a:solidFill>
                <a:latin typeface="Calibri"/>
              </a:rPr>
              <a:t>PERPLEXITY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7066" y="1910000"/>
            <a:ext cx="2209866" cy="5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AI-powered browser and research assistant.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67066" y="2440000"/>
            <a:ext cx="2209866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67066" y="2490000"/>
            <a:ext cx="2209866" cy="1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0808D"/>
                </a:solidFill>
                <a:latin typeface="Calibri"/>
              </a:rPr>
              <a:t>MAIN FEATURE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7066" y="2686750"/>
            <a:ext cx="2209866" cy="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AI search, page summarization &amp; research workflows.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6932" y="1050000"/>
            <a:ext cx="2649866" cy="1816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36932" y="1170000"/>
            <a:ext cx="60000" cy="1576750"/>
          </a:xfrm>
          <a:prstGeom prst="rect">
            <a:avLst/>
          </a:prstGeom>
          <a:solidFill>
            <a:srgbClr val="1F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256932" y="1250000"/>
            <a:ext cx="500000" cy="500000"/>
          </a:xfrm>
          <a:prstGeom prst="ellipse">
            <a:avLst/>
          </a:prstGeom>
          <a:solidFill>
            <a:srgbClr val="1F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56932" y="1250000"/>
            <a:ext cx="5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Black"/>
              </a:rPr>
              <a:t>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6932" y="1230000"/>
            <a:ext cx="1569866" cy="2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 Black"/>
              </a:rPr>
              <a:t>Perplexity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6932" y="1510000"/>
            <a:ext cx="1569866" cy="22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B8CD"/>
                </a:solidFill>
                <a:latin typeface="Calibri"/>
              </a:rPr>
              <a:t>PERPLEXITY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6932" y="1910000"/>
            <a:ext cx="2209866" cy="5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AI search engine that provides cited answers.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56932" y="2440000"/>
            <a:ext cx="2209866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56932" y="2490000"/>
            <a:ext cx="2209866" cy="1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FB8CD"/>
                </a:solidFill>
                <a:latin typeface="Calibri"/>
              </a:rPr>
              <a:t>MAIN FEATURE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6932" y="2686750"/>
            <a:ext cx="2209866" cy="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Real-time web search with source citations &amp; summaries.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006750"/>
            <a:ext cx="2649866" cy="1816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" y="3126750"/>
            <a:ext cx="60000" cy="157675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77200" y="3206750"/>
            <a:ext cx="500000" cy="5000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7200" y="3206750"/>
            <a:ext cx="5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Black"/>
              </a:rPr>
              <a:t>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7200" y="3186750"/>
            <a:ext cx="1569866" cy="2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 Black"/>
              </a:rPr>
              <a:t>Copilot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17200" y="3466750"/>
            <a:ext cx="1569866" cy="22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78D4"/>
                </a:solidFill>
                <a:latin typeface="Calibri"/>
              </a:rPr>
              <a:t>MICROSOFT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7200" y="3866750"/>
            <a:ext cx="2209866" cy="5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AI assistant across Microsoft 365 and Windows.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7200" y="4396750"/>
            <a:ext cx="2209866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7200" y="4446750"/>
            <a:ext cx="2209866" cy="1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78D4"/>
                </a:solidFill>
                <a:latin typeface="Calibri"/>
              </a:rPr>
              <a:t>MAIN FEATURE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7200" y="4643500"/>
            <a:ext cx="2209866" cy="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Word, Excel, PowerPoint automation &amp; productivity tasks.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47066" y="3006750"/>
            <a:ext cx="2649866" cy="1816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247066" y="3126750"/>
            <a:ext cx="60000" cy="1576750"/>
          </a:xfrm>
          <a:prstGeom prst="rect">
            <a:avLst/>
          </a:prstGeom>
          <a:solidFill>
            <a:srgbClr val="24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467066" y="3206750"/>
            <a:ext cx="500000" cy="500000"/>
          </a:xfrm>
          <a:prstGeom prst="ellipse">
            <a:avLst/>
          </a:prstGeom>
          <a:solidFill>
            <a:srgbClr val="24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67066" y="3206750"/>
            <a:ext cx="5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Black"/>
              </a:rPr>
              <a:t>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07066" y="3186750"/>
            <a:ext cx="1569866" cy="2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 Black"/>
              </a:rPr>
              <a:t>GitHub Copilot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07066" y="3466750"/>
            <a:ext cx="1569866" cy="22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4292E"/>
                </a:solidFill>
                <a:latin typeface="Calibri"/>
              </a:rPr>
              <a:t>GITHUB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67066" y="3866750"/>
            <a:ext cx="2209866" cy="5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AI coding assistant for developers.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67066" y="4396750"/>
            <a:ext cx="2209866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467066" y="4446750"/>
            <a:ext cx="2209866" cy="1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4292E"/>
                </a:solidFill>
                <a:latin typeface="Calibri"/>
              </a:rPr>
              <a:t>MAIN FEATURE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67066" y="4643500"/>
            <a:ext cx="2209866" cy="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Code completion, debugging, docs &amp; code generation in IDEs.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36932" y="3006750"/>
            <a:ext cx="2649866" cy="1816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036932" y="3126750"/>
            <a:ext cx="60000" cy="1576750"/>
          </a:xfrm>
          <a:prstGeom prst="rect">
            <a:avLst/>
          </a:prstGeom>
          <a:solidFill>
            <a:srgbClr val="586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6256932" y="3206750"/>
            <a:ext cx="500000" cy="500000"/>
          </a:xfrm>
          <a:prstGeom prst="ellipse">
            <a:avLst/>
          </a:prstGeom>
          <a:solidFill>
            <a:srgbClr val="586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256932" y="3206750"/>
            <a:ext cx="5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Black"/>
              </a:rPr>
              <a:t>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96932" y="3186750"/>
            <a:ext cx="1569866" cy="2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 Black"/>
              </a:rPr>
              <a:t>Midjourney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96932" y="3466750"/>
            <a:ext cx="1569866" cy="22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865F2"/>
                </a:solidFill>
                <a:latin typeface="Calibri"/>
              </a:rPr>
              <a:t>MIDJOURNEY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56932" y="3866750"/>
            <a:ext cx="2209866" cy="5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AI image generation platform.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56932" y="4396750"/>
            <a:ext cx="2209866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256932" y="4446750"/>
            <a:ext cx="2209866" cy="1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865F2"/>
                </a:solidFill>
                <a:latin typeface="Calibri"/>
              </a:rPr>
              <a:t>MAIN FEATURE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56932" y="4643500"/>
            <a:ext cx="2209866" cy="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Artistic &amp; realistic images from text prompts.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40000"/>
            <a:ext cx="10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B4D8"/>
                </a:solidFill>
                <a:latin typeface="Arial Black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0" y="240000"/>
            <a:ext cx="45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AI PLATFORMS &amp;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00000" y="670000"/>
            <a:ext cx="500000" cy="30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0000" y="240000"/>
            <a:ext cx="18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Page 3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0000"/>
            <a:ext cx="2649866" cy="1816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70000"/>
            <a:ext cx="60000" cy="1576750"/>
          </a:xfrm>
          <a:prstGeom prst="rect">
            <a:avLst/>
          </a:prstGeom>
          <a:solidFill>
            <a:srgbClr val="FA0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77200" y="1250000"/>
            <a:ext cx="500000" cy="500000"/>
          </a:xfrm>
          <a:prstGeom prst="ellipse">
            <a:avLst/>
          </a:prstGeom>
          <a:solidFill>
            <a:srgbClr val="FA0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200" y="1250000"/>
            <a:ext cx="5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7200" y="1230000"/>
            <a:ext cx="1569866" cy="2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 Black"/>
              </a:rPr>
              <a:t>Adobe Firefly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7200" y="1510000"/>
            <a:ext cx="1569866" cy="22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A0F00"/>
                </a:solidFill>
                <a:latin typeface="Calibri"/>
              </a:rPr>
              <a:t>ADOBE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200" y="1910000"/>
            <a:ext cx="2209866" cy="5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Generative AI for creative professionals.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7200" y="2440000"/>
            <a:ext cx="2209866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7200" y="2490000"/>
            <a:ext cx="2209866" cy="1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A0F00"/>
                </a:solidFill>
                <a:latin typeface="Calibri"/>
              </a:rPr>
              <a:t>MAIN FEATURE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200" y="2686750"/>
            <a:ext cx="2209866" cy="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AI images, text effects, generative fill &amp; image editing.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7066" y="1050000"/>
            <a:ext cx="2649866" cy="1816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7066" y="1170000"/>
            <a:ext cx="60000" cy="157675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467066" y="1250000"/>
            <a:ext cx="500000" cy="5000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67066" y="1250000"/>
            <a:ext cx="5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Black"/>
              </a:rP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7066" y="1230000"/>
            <a:ext cx="1569866" cy="2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 Black"/>
              </a:rPr>
              <a:t>Runway 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07066" y="1510000"/>
            <a:ext cx="1569866" cy="22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Calibri"/>
              </a:rPr>
              <a:t>RUNWAY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7066" y="1910000"/>
            <a:ext cx="2209866" cy="5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AI-powered video creation and editing platform.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67066" y="2440000"/>
            <a:ext cx="2209866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67066" y="2490000"/>
            <a:ext cx="2209866" cy="1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11111"/>
                </a:solidFill>
                <a:latin typeface="Calibri"/>
              </a:rPr>
              <a:t>MAIN FEATURE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7066" y="2686750"/>
            <a:ext cx="2209866" cy="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Text-to-video, editing, background removal &amp; VFX.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6932" y="1050000"/>
            <a:ext cx="2649866" cy="1816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36932" y="1170000"/>
            <a:ext cx="60000" cy="15767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256932" y="1250000"/>
            <a:ext cx="500000" cy="5000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56932" y="1250000"/>
            <a:ext cx="5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Black"/>
              </a:rPr>
              <a:t>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6932" y="1230000"/>
            <a:ext cx="1569866" cy="2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 Black"/>
              </a:rPr>
              <a:t>HeyGen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6932" y="1510000"/>
            <a:ext cx="1569866" cy="22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C3AED"/>
                </a:solidFill>
                <a:latin typeface="Calibri"/>
              </a:rPr>
              <a:t>HEYGEN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6932" y="1910000"/>
            <a:ext cx="2209866" cy="5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AI avatar and video generation platform.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56932" y="2440000"/>
            <a:ext cx="2209866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56932" y="2490000"/>
            <a:ext cx="2209866" cy="1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7C3AED"/>
                </a:solidFill>
                <a:latin typeface="Calibri"/>
              </a:rPr>
              <a:t>MAIN FEATURE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6932" y="2686750"/>
            <a:ext cx="2209866" cy="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AI presenter videos, multilingual dubbing &amp; avatars.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006750"/>
            <a:ext cx="2649866" cy="1816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" y="3126750"/>
            <a:ext cx="60000" cy="15767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77200" y="3206750"/>
            <a:ext cx="500000" cy="50000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7200" y="3206750"/>
            <a:ext cx="5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Black"/>
              </a:rPr>
              <a:t>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7200" y="3186750"/>
            <a:ext cx="1569866" cy="2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 Black"/>
              </a:rPr>
              <a:t>ElevenLabs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17200" y="3466750"/>
            <a:ext cx="1569866" cy="22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F172A"/>
                </a:solidFill>
                <a:latin typeface="Calibri"/>
              </a:rPr>
              <a:t>ELEVENLABS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7200" y="3866750"/>
            <a:ext cx="2209866" cy="5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AI voice generation platform.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7200" y="4396750"/>
            <a:ext cx="2209866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7200" y="4446750"/>
            <a:ext cx="2209866" cy="1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F172A"/>
                </a:solidFill>
                <a:latin typeface="Calibri"/>
              </a:rPr>
              <a:t>MAIN FEATURE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7200" y="4643500"/>
            <a:ext cx="2209866" cy="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Realistic TTS, voice cloning &amp; multilingual synthesis.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47066" y="3006750"/>
            <a:ext cx="2649866" cy="1816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247066" y="3126750"/>
            <a:ext cx="60000" cy="15767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467066" y="3206750"/>
            <a:ext cx="500000" cy="50000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67066" y="3206750"/>
            <a:ext cx="5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Black"/>
              </a:rPr>
              <a:t>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07066" y="3186750"/>
            <a:ext cx="1569866" cy="2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 Black"/>
              </a:rPr>
              <a:t>Cursor AI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07066" y="3466750"/>
            <a:ext cx="1569866" cy="22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E293B"/>
                </a:solidFill>
                <a:latin typeface="Calibri"/>
              </a:rPr>
              <a:t>CURSOR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67066" y="3866750"/>
            <a:ext cx="2209866" cy="5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AI-first code editor for developers.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67066" y="4396750"/>
            <a:ext cx="2209866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467066" y="4446750"/>
            <a:ext cx="2209866" cy="1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E293B"/>
                </a:solidFill>
                <a:latin typeface="Calibri"/>
              </a:rPr>
              <a:t>MAIN FEATURE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67066" y="4643500"/>
            <a:ext cx="2209866" cy="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Smart code generation, debugging &amp; project understanding.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36932" y="3006750"/>
            <a:ext cx="2649866" cy="1816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036932" y="3126750"/>
            <a:ext cx="60000" cy="1576750"/>
          </a:xfrm>
          <a:prstGeom prst="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6256932" y="3206750"/>
            <a:ext cx="500000" cy="500000"/>
          </a:xfrm>
          <a:prstGeom prst="ellipse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256932" y="3206750"/>
            <a:ext cx="5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Black"/>
              </a:rPr>
              <a:t>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96932" y="3186750"/>
            <a:ext cx="1569866" cy="2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 Black"/>
              </a:rPr>
              <a:t>Lovable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96932" y="3466750"/>
            <a:ext cx="1569866" cy="22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6B9D"/>
                </a:solidFill>
                <a:latin typeface="Calibri"/>
              </a:rPr>
              <a:t>LOVABLE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56932" y="3866750"/>
            <a:ext cx="2209866" cy="5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AI application builder.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56932" y="4396750"/>
            <a:ext cx="2209866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256932" y="4446750"/>
            <a:ext cx="2209866" cy="1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6B9D"/>
                </a:solidFill>
                <a:latin typeface="Calibri"/>
              </a:rPr>
              <a:t>MAIN FEATURE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56932" y="4643500"/>
            <a:ext cx="2209866" cy="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Generates full-stack web apps from language prompts.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40000"/>
            <a:ext cx="10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B4D8"/>
                </a:solidFill>
                <a:latin typeface="Arial Black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0" y="240000"/>
            <a:ext cx="45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AI PLATFORMS &amp;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00000" y="670000"/>
            <a:ext cx="500000" cy="30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0000" y="240000"/>
            <a:ext cx="18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Page 4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0000"/>
            <a:ext cx="2649866" cy="1816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70000"/>
            <a:ext cx="60000" cy="15767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77200" y="1250000"/>
            <a:ext cx="500000" cy="500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200" y="1250000"/>
            <a:ext cx="5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Black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7200" y="1230000"/>
            <a:ext cx="1569866" cy="2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 Black"/>
              </a:rPr>
              <a:t>Bolt.new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7200" y="1510000"/>
            <a:ext cx="1569866" cy="22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563EB"/>
                </a:solidFill>
                <a:latin typeface="Calibri"/>
              </a:rPr>
              <a:t>STACKBLITZ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200" y="1910000"/>
            <a:ext cx="2209866" cy="5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AI web development platform.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7200" y="2440000"/>
            <a:ext cx="2209866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7200" y="2490000"/>
            <a:ext cx="2209866" cy="1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563EB"/>
                </a:solidFill>
                <a:latin typeface="Calibri"/>
              </a:rPr>
              <a:t>MAIN FEATURE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200" y="2686750"/>
            <a:ext cx="2209866" cy="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Builds &amp; deploys full-stack web apps from prompts.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7066" y="1050000"/>
            <a:ext cx="2649866" cy="1816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7066" y="1170000"/>
            <a:ext cx="60000" cy="1576750"/>
          </a:xfrm>
          <a:prstGeom prst="rect">
            <a:avLst/>
          </a:prstGeom>
          <a:solidFill>
            <a:srgbClr val="00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467066" y="1250000"/>
            <a:ext cx="500000" cy="500000"/>
          </a:xfrm>
          <a:prstGeom prst="ellipse">
            <a:avLst/>
          </a:prstGeom>
          <a:solidFill>
            <a:srgbClr val="00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67066" y="1250000"/>
            <a:ext cx="5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Black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7066" y="1230000"/>
            <a:ext cx="1569866" cy="2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 Black"/>
              </a:rPr>
              <a:t>Canva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07066" y="1510000"/>
            <a:ext cx="1569866" cy="22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C4CC"/>
                </a:solidFill>
                <a:latin typeface="Calibri"/>
              </a:rPr>
              <a:t>CANVA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7066" y="1910000"/>
            <a:ext cx="2209866" cy="5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AI-powered graphic design platform (Magic Studio).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67066" y="2440000"/>
            <a:ext cx="2209866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67066" y="2490000"/>
            <a:ext cx="2209866" cy="1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C4CC"/>
                </a:solidFill>
                <a:latin typeface="Calibri"/>
              </a:rPr>
              <a:t>MAIN FEATURE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7066" y="2686750"/>
            <a:ext cx="2209866" cy="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Presentations, images, videos &amp; social designs with AI.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00B4D8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6366F1">
              <a:alpha val="8000"/>
            </a:srgbClr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19456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3840480" y="3108960"/>
            <a:ext cx="1463040" cy="54864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7" name="Text 4"/>
          <p:cNvSpPr/>
          <p:nvPr/>
        </p:nvSpPr>
        <p:spPr>
          <a:xfrm>
            <a:off x="914400" y="338328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AI Journey Today!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altLang="zh-CN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Arial" panose="020B0604020202020204" pitchFamily="34" charset="0"/>
              </a:rPr>
              <a:t>h</a:t>
            </a:r>
            <a:r>
              <a:rPr lang="en-US" altLang="zh-CN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Arial" panose="020B0604020202020204" pitchFamily="34" charset="0"/>
              </a:rPr>
              <a:t>ubham </a:t>
            </a:r>
            <a:r>
              <a:rPr lang="en-US" altLang="zh-CN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Arial" panose="020B0604020202020204" pitchFamily="34" charset="0"/>
              </a:rPr>
              <a:t>Gupta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1401</Words>
  <Application>Microsoft Office PowerPoint</Application>
  <PresentationFormat>On-screen Show (16:9)</PresentationFormat>
  <Paragraphs>335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AI</dc:title>
  <dc:subject>PptxGenJS Presentation</dc:subject>
  <dc:creator>Arvind Maurya</dc:creator>
  <cp:lastModifiedBy>Arvind maurya</cp:lastModifiedBy>
  <cp:revision>1</cp:revision>
  <dcterms:created xsi:type="dcterms:W3CDTF">2026-09-07T06:20:15Z</dcterms:created>
  <dcterms:modified xsi:type="dcterms:W3CDTF">2026-09-07T06:23:48Z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284F72409952A8AB9F579E6A4623CBCA_42</vt:lpwstr>
  </property>
  <property fmtid="{D5CDD505-2E9C-101B-9397-08002B2CF9AE}" pid="3" name="KSOProductBuildVer">
    <vt:lpwstr>2052-12.9.0.26003</vt:lpwstr>
  </property>
</Properties>
</file>